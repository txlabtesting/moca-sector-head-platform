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107AE-A075-4FD8-BA0A-237EA8156B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B8D9D-4FC8-447D-A747-21630E215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39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ABB1-32EB-25DD-3C2C-09565508A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1F44E-386A-2E51-CBF7-2B616611C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28D38-5F3D-1EFF-AC7B-CE578814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66703-E999-C079-7961-40E22A4F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D8D59-20D1-05BC-CC78-3AB145CA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69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F5E8-A759-2F27-BB89-F46CD2A7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A6601-0F61-8A3F-E081-9E3754075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A1CD3-C0AA-5FF8-322C-C1BA1E4B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45C1F-EAFF-7D8F-90E1-A5573C70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51311-BA75-CB5A-37CB-75830B82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0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B5B0-2AAA-2043-9923-5628493E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3A120-E9ED-2AFF-97F2-42B59B479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9D3C1-7F89-6A02-A82F-DDC2A677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1FEB6-BEB1-156E-BD34-BE540D8A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AEE26-2064-8CFD-3609-E8E4E5FC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26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47A3-A63D-7578-E9A3-5F4D80B9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03959-E53E-F1A9-2DB1-B9B27A438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41C13-0C3C-49AF-15AA-5EE425392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B4357-14FC-D730-0ACE-E9B2083A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9CBD1-CAB7-BDBD-87A7-C582293D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F5246-2EC4-8D3A-D17F-3F0FAB90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09D83-DF5F-DD79-462D-8103AABF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F5170-29E8-B0BF-1E0C-E5D12F935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F165C-3445-D9B2-7118-1438D0DC3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E304D-1617-7243-AC56-8A65C744A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7F725-677B-601E-FE64-04225AD2A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F1C27-2C01-35A8-35D4-EAC71421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7F3C6-7C9C-83AE-E3C2-06B67E3CD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015C9-ECCA-FD33-AADA-6D14F490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6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8F31C-EA15-6778-06C6-BDFC32D9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CCAFD-67A7-4137-F0B8-F494E174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CB849-BD4F-4172-72A8-92CE759C1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767F9-319D-BCB0-79FA-10D53AC9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5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54188-80A5-F08E-C827-6F3F0AB0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20D2A-0438-B563-92F8-6B4320976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62E35-6CA6-F96B-8E76-49273B1F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7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6EB7-1014-9B44-FFC7-D01F40E7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9EFF4-BDB3-F241-20C5-5AD8641C8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ED7B8-48CB-73B0-2CC5-EDC5C2CF6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40B1E-673B-B3C3-5A31-BAA226E2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0CF8A-9759-2E12-5CD0-9E2ACB049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5C6B0-94F7-7335-42DB-DF7F28A1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37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2B219-2DD4-8491-835E-47A3B57EA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5B1A1-DC98-BC08-11A1-788F1514C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2F336-E3E5-9D6E-04B0-7AC160CC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71D74-F801-BA8D-A016-850F41D51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20821-313E-E499-114E-B5AE2A95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20ECF-54C2-6AB3-9C8F-E970ACA18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3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FC88C-A7C2-ADB6-08FB-0A0E311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673C5-60DC-FFA3-3448-48F27A970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AF2D9-BD5A-F9BF-03B9-66361262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328E2-ADA4-290E-5A1E-38378889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6F563-DC49-CD4D-0742-C4D8EDD4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05F1F-E780-3ADF-DC27-E5DD10DF6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7E857-C9A3-387A-0BEE-D2894FC2F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2F8C5-9599-395D-801B-DC8EF72F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CD0F5-9227-F872-07F0-1EBAFB87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5E88A-976A-930F-0881-B13662A2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10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05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40C87-1F85-9EC5-8773-901F75DB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93AD8-E1FE-EAF1-032C-39444DBE5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D8149-4F93-F08F-5E74-0B98FDA87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A5320-D465-4B44-A30E-42516E84FCE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9B042-09A6-0A75-9D6F-15BC4C974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3AB5B-D9D6-EB0F-BA18-C0A16872C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93F8D-68D4-4FC9-AD24-982657F2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2000" b="1" dirty="0">
                <a:solidFill>
                  <a:srgbClr val="1B1F3B"/>
                </a:solidFill>
                <a:latin typeface="Arial" pitchFamily="34" charset="0"/>
                <a:cs typeface="Arial" pitchFamily="34" charset="-120"/>
              </a:rPr>
              <a:t>تفاصيل اطراف ذات علاقة بين الجهات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092761" y="914400"/>
            <a:ext cx="359601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1121847" y="109728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21847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61608" y="1097280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ارصدة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إلى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PMO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61608" y="196596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700" b="1" dirty="0">
              <a:solidFill>
                <a:srgbClr val="1B1F3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61608" y="244144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492" y="1871348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E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8941" y="1980174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1- جارى التسوية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7,444,876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89492" y="2503870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81212" y="904820"/>
            <a:ext cx="3474761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42810" y="108263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3740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72362" y="1105988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ارصدة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MOCA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إلى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GSOC</a:t>
            </a:r>
          </a:p>
        </p:txBody>
      </p:sp>
      <p:sp>
        <p:nvSpPr>
          <p:cNvPr id="26" name="Text 24"/>
          <p:cNvSpPr/>
          <p:nvPr/>
        </p:nvSpPr>
        <p:spPr>
          <a:xfrm>
            <a:off x="685800" y="244144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480" y="3840480"/>
            <a:ext cx="3596015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1121847" y="402336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33" name="Text 31"/>
          <p:cNvSpPr/>
          <p:nvPr/>
        </p:nvSpPr>
        <p:spPr>
          <a:xfrm>
            <a:off x="11121847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46040" y="402336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460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D0B59E41-B925-D8E6-4F66-99FB41EC5C15}"/>
              </a:ext>
            </a:extLst>
          </p:cNvPr>
          <p:cNvSpPr/>
          <p:nvPr/>
        </p:nvSpPr>
        <p:spPr>
          <a:xfrm>
            <a:off x="9189492" y="2640128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2- عقود مرحلة من العام السابق 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40,575,373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8D9C7F28-CE93-ADD8-D0CC-3D3568D4874D}"/>
              </a:ext>
            </a:extLst>
          </p:cNvPr>
          <p:cNvSpPr/>
          <p:nvPr/>
        </p:nvSpPr>
        <p:spPr>
          <a:xfrm>
            <a:off x="9194064" y="3107374"/>
            <a:ext cx="2453564" cy="566928"/>
          </a:xfrm>
          <a:prstGeom prst="roundRect">
            <a:avLst>
              <a:gd name="adj" fmla="val 9677"/>
            </a:avLst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DFC3AAD6-BBAB-8F7E-6843-FA3281E5CC19}"/>
              </a:ext>
            </a:extLst>
          </p:cNvPr>
          <p:cNvSpPr/>
          <p:nvPr/>
        </p:nvSpPr>
        <p:spPr>
          <a:xfrm>
            <a:off x="9189492" y="3218688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3- ارصدة خلال العام الحالي ( عقود – رواتب)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44,411,950</a:t>
            </a: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A7E62B2B-07F7-8F78-7627-2822809442C9}"/>
              </a:ext>
            </a:extLst>
          </p:cNvPr>
          <p:cNvSpPr/>
          <p:nvPr/>
        </p:nvSpPr>
        <p:spPr>
          <a:xfrm>
            <a:off x="4848746" y="1802861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E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52B01014-F087-9714-DEAE-AB69C74597E2}"/>
              </a:ext>
            </a:extLst>
          </p:cNvPr>
          <p:cNvSpPr/>
          <p:nvPr/>
        </p:nvSpPr>
        <p:spPr>
          <a:xfrm>
            <a:off x="4808195" y="1911687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1- جارى التسوية من الأمانة الى </a:t>
            </a:r>
            <a:r>
              <a:rPr lang="ar-AE" sz="800" dirty="0" err="1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وزراة</a:t>
            </a: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شؤون مجلس الوزراء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1,629,442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44D855FC-6BE6-74E5-9678-F3847E293A04}"/>
              </a:ext>
            </a:extLst>
          </p:cNvPr>
          <p:cNvSpPr/>
          <p:nvPr/>
        </p:nvSpPr>
        <p:spPr>
          <a:xfrm>
            <a:off x="4848746" y="2435383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B1BA470A-ED94-51A0-38C4-40529E4F88E5}"/>
              </a:ext>
            </a:extLst>
          </p:cNvPr>
          <p:cNvSpPr/>
          <p:nvPr/>
        </p:nvSpPr>
        <p:spPr>
          <a:xfrm>
            <a:off x="4848746" y="2571641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2- عقود مرحلة من العام السابق 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2,699,628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B444479B-644C-FF49-5A7D-4651D2D8E759}"/>
              </a:ext>
            </a:extLst>
          </p:cNvPr>
          <p:cNvSpPr/>
          <p:nvPr/>
        </p:nvSpPr>
        <p:spPr>
          <a:xfrm>
            <a:off x="4848746" y="3150201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3- ارصدة خلال العام الحالي ( عقود – رواتب)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5,259,827</a:t>
            </a:r>
          </a:p>
        </p:txBody>
      </p:sp>
      <p:sp>
        <p:nvSpPr>
          <p:cNvPr id="72" name="Shape 15">
            <a:extLst>
              <a:ext uri="{FF2B5EF4-FFF2-40B4-BE49-F238E27FC236}">
                <a16:creationId xmlns:a16="http://schemas.microsoft.com/office/drawing/2014/main" id="{EA39FBEA-6EA8-EBD6-89AC-6F17942EB80D}"/>
              </a:ext>
            </a:extLst>
          </p:cNvPr>
          <p:cNvSpPr/>
          <p:nvPr/>
        </p:nvSpPr>
        <p:spPr>
          <a:xfrm>
            <a:off x="804803" y="900777"/>
            <a:ext cx="3474761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5D50CF26-7727-6A4C-38EB-9C77B4364C77}"/>
              </a:ext>
            </a:extLst>
          </p:cNvPr>
          <p:cNvSpPr/>
          <p:nvPr/>
        </p:nvSpPr>
        <p:spPr>
          <a:xfrm>
            <a:off x="3776846" y="96931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508C034B-3A3C-CF97-D250-C0675DADE4F6}"/>
              </a:ext>
            </a:extLst>
          </p:cNvPr>
          <p:cNvSpPr/>
          <p:nvPr/>
        </p:nvSpPr>
        <p:spPr>
          <a:xfrm>
            <a:off x="-993602" y="992668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ارصدة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MOCA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إلى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GMO</a:t>
            </a:r>
          </a:p>
        </p:txBody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76FFEE6E-C430-3E8D-DFE8-CC079CE5AF4E}"/>
              </a:ext>
            </a:extLst>
          </p:cNvPr>
          <p:cNvSpPr/>
          <p:nvPr/>
        </p:nvSpPr>
        <p:spPr>
          <a:xfrm>
            <a:off x="1675716" y="1691204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4" name="Text 14">
            <a:extLst>
              <a:ext uri="{FF2B5EF4-FFF2-40B4-BE49-F238E27FC236}">
                <a16:creationId xmlns:a16="http://schemas.microsoft.com/office/drawing/2014/main" id="{353280EB-E8AD-8D0F-171C-7CAFDC5B1492}"/>
              </a:ext>
            </a:extLst>
          </p:cNvPr>
          <p:cNvSpPr/>
          <p:nvPr/>
        </p:nvSpPr>
        <p:spPr>
          <a:xfrm>
            <a:off x="1675716" y="1827462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1- عقود مرحلة من العام السابق 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405,672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19E2A1BA-F48C-103E-7CEC-D87B3B935F43}"/>
              </a:ext>
            </a:extLst>
          </p:cNvPr>
          <p:cNvSpPr/>
          <p:nvPr/>
        </p:nvSpPr>
        <p:spPr>
          <a:xfrm>
            <a:off x="1741519" y="2554768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2- ارصدة خلال العام الحالي ( عقود – رواتب)</a:t>
            </a:r>
            <a:endParaRPr lang="en-US" sz="800" dirty="0">
              <a:solidFill>
                <a:srgbClr val="8A6A25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مستحق من </a:t>
            </a: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GMO 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167,455</a:t>
            </a:r>
          </a:p>
        </p:txBody>
      </p:sp>
      <p:sp>
        <p:nvSpPr>
          <p:cNvPr id="92" name="Text 43">
            <a:extLst>
              <a:ext uri="{FF2B5EF4-FFF2-40B4-BE49-F238E27FC236}">
                <a16:creationId xmlns:a16="http://schemas.microsoft.com/office/drawing/2014/main" id="{432EB3FE-3F01-102F-8F03-0086D119F2E7}"/>
              </a:ext>
            </a:extLst>
          </p:cNvPr>
          <p:cNvSpPr/>
          <p:nvPr/>
        </p:nvSpPr>
        <p:spPr>
          <a:xfrm>
            <a:off x="6415886" y="4109792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ارصدة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إلى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FCSC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98" name="Shape 13">
            <a:extLst>
              <a:ext uri="{FF2B5EF4-FFF2-40B4-BE49-F238E27FC236}">
                <a16:creationId xmlns:a16="http://schemas.microsoft.com/office/drawing/2014/main" id="{3C19EE8B-0737-E48F-DB6F-AF67E7F68B71}"/>
              </a:ext>
            </a:extLst>
          </p:cNvPr>
          <p:cNvSpPr/>
          <p:nvPr/>
        </p:nvSpPr>
        <p:spPr>
          <a:xfrm>
            <a:off x="9104903" y="4597091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0" name="Text 14">
            <a:extLst>
              <a:ext uri="{FF2B5EF4-FFF2-40B4-BE49-F238E27FC236}">
                <a16:creationId xmlns:a16="http://schemas.microsoft.com/office/drawing/2014/main" id="{4422DA4A-8756-6B2E-18BC-3DD58BCED4EA}"/>
              </a:ext>
            </a:extLst>
          </p:cNvPr>
          <p:cNvSpPr/>
          <p:nvPr/>
        </p:nvSpPr>
        <p:spPr>
          <a:xfrm>
            <a:off x="9104903" y="4733349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1- عقود مرحلة من العام السابق 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1,867,304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0E01F8A9-B479-1B49-EEF6-EA2D00473CF3}"/>
              </a:ext>
            </a:extLst>
          </p:cNvPr>
          <p:cNvSpPr/>
          <p:nvPr/>
        </p:nvSpPr>
        <p:spPr>
          <a:xfrm>
            <a:off x="9148941" y="5434172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2- ارصدة خلال العام الحالي ( عقود – رواتب)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4,007,013</a:t>
            </a:r>
          </a:p>
        </p:txBody>
      </p:sp>
      <p:sp>
        <p:nvSpPr>
          <p:cNvPr id="104" name="Shape 1">
            <a:extLst>
              <a:ext uri="{FF2B5EF4-FFF2-40B4-BE49-F238E27FC236}">
                <a16:creationId xmlns:a16="http://schemas.microsoft.com/office/drawing/2014/main" id="{D141081C-C5ED-2E0E-F3AF-7CCA69B5237E}"/>
              </a:ext>
            </a:extLst>
          </p:cNvPr>
          <p:cNvSpPr/>
          <p:nvPr/>
        </p:nvSpPr>
        <p:spPr>
          <a:xfrm>
            <a:off x="4430483" y="3849188"/>
            <a:ext cx="3576218" cy="2743200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Shape 2">
            <a:extLst>
              <a:ext uri="{FF2B5EF4-FFF2-40B4-BE49-F238E27FC236}">
                <a16:creationId xmlns:a16="http://schemas.microsoft.com/office/drawing/2014/main" id="{EC2D7754-3FB2-D806-B0B9-B723081EE050}"/>
              </a:ext>
            </a:extLst>
          </p:cNvPr>
          <p:cNvSpPr/>
          <p:nvPr/>
        </p:nvSpPr>
        <p:spPr>
          <a:xfrm>
            <a:off x="7419302" y="3894091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3">
            <a:extLst>
              <a:ext uri="{FF2B5EF4-FFF2-40B4-BE49-F238E27FC236}">
                <a16:creationId xmlns:a16="http://schemas.microsoft.com/office/drawing/2014/main" id="{3FD2696E-2E0B-8B6D-75CD-E165AA94F022}"/>
              </a:ext>
            </a:extLst>
          </p:cNvPr>
          <p:cNvSpPr/>
          <p:nvPr/>
        </p:nvSpPr>
        <p:spPr>
          <a:xfrm>
            <a:off x="7411533" y="38822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110" name="Text 4">
            <a:extLst>
              <a:ext uri="{FF2B5EF4-FFF2-40B4-BE49-F238E27FC236}">
                <a16:creationId xmlns:a16="http://schemas.microsoft.com/office/drawing/2014/main" id="{FED617CB-8422-DFDE-AC28-93E870008431}"/>
              </a:ext>
            </a:extLst>
          </p:cNvPr>
          <p:cNvSpPr/>
          <p:nvPr/>
        </p:nvSpPr>
        <p:spPr>
          <a:xfrm>
            <a:off x="4572422" y="3929765"/>
            <a:ext cx="2643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ارصدة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الى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GEEO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30" name="Shape 11">
            <a:extLst>
              <a:ext uri="{FF2B5EF4-FFF2-40B4-BE49-F238E27FC236}">
                <a16:creationId xmlns:a16="http://schemas.microsoft.com/office/drawing/2014/main" id="{ADEAC16A-0C8D-BB64-D69C-5541957C02C8}"/>
              </a:ext>
            </a:extLst>
          </p:cNvPr>
          <p:cNvSpPr/>
          <p:nvPr/>
        </p:nvSpPr>
        <p:spPr>
          <a:xfrm>
            <a:off x="5297860" y="4470109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E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2">
            <a:extLst>
              <a:ext uri="{FF2B5EF4-FFF2-40B4-BE49-F238E27FC236}">
                <a16:creationId xmlns:a16="http://schemas.microsoft.com/office/drawing/2014/main" id="{57F2829D-7430-3051-4F5B-CF1DE702F504}"/>
              </a:ext>
            </a:extLst>
          </p:cNvPr>
          <p:cNvSpPr/>
          <p:nvPr/>
        </p:nvSpPr>
        <p:spPr>
          <a:xfrm>
            <a:off x="5257309" y="4578935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1- جارى التسوية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298,000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34" name="Shape 13">
            <a:extLst>
              <a:ext uri="{FF2B5EF4-FFF2-40B4-BE49-F238E27FC236}">
                <a16:creationId xmlns:a16="http://schemas.microsoft.com/office/drawing/2014/main" id="{5F9BDECF-CEC9-EF0A-878E-4E7765E985C7}"/>
              </a:ext>
            </a:extLst>
          </p:cNvPr>
          <p:cNvSpPr/>
          <p:nvPr/>
        </p:nvSpPr>
        <p:spPr>
          <a:xfrm>
            <a:off x="5297860" y="5102631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6" name="Text 14">
            <a:extLst>
              <a:ext uri="{FF2B5EF4-FFF2-40B4-BE49-F238E27FC236}">
                <a16:creationId xmlns:a16="http://schemas.microsoft.com/office/drawing/2014/main" id="{F563FC24-3BCE-8DBC-BB2B-6E29FD2BCA29}"/>
              </a:ext>
            </a:extLst>
          </p:cNvPr>
          <p:cNvSpPr/>
          <p:nvPr/>
        </p:nvSpPr>
        <p:spPr>
          <a:xfrm>
            <a:off x="5297860" y="5238889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2- عقود مرحلة من العام السابق 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426,792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38" name="Shape 11">
            <a:extLst>
              <a:ext uri="{FF2B5EF4-FFF2-40B4-BE49-F238E27FC236}">
                <a16:creationId xmlns:a16="http://schemas.microsoft.com/office/drawing/2014/main" id="{3957C067-4BE5-E0C6-B3C6-662ABA8742F2}"/>
              </a:ext>
            </a:extLst>
          </p:cNvPr>
          <p:cNvSpPr/>
          <p:nvPr/>
        </p:nvSpPr>
        <p:spPr>
          <a:xfrm>
            <a:off x="5302432" y="5706135"/>
            <a:ext cx="2453564" cy="566928"/>
          </a:xfrm>
          <a:prstGeom prst="roundRect">
            <a:avLst>
              <a:gd name="adj" fmla="val 9677"/>
            </a:avLst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0" name="Text 12">
            <a:extLst>
              <a:ext uri="{FF2B5EF4-FFF2-40B4-BE49-F238E27FC236}">
                <a16:creationId xmlns:a16="http://schemas.microsoft.com/office/drawing/2014/main" id="{B75A399A-7269-AAC3-BDA0-C54E536BA55B}"/>
              </a:ext>
            </a:extLst>
          </p:cNvPr>
          <p:cNvSpPr/>
          <p:nvPr/>
        </p:nvSpPr>
        <p:spPr>
          <a:xfrm>
            <a:off x="5297860" y="5817449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3- ارصدة خلال العام الحالي ( عقود – رواتب)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1,410,292</a:t>
            </a:r>
          </a:p>
        </p:txBody>
      </p:sp>
      <p:sp>
        <p:nvSpPr>
          <p:cNvPr id="156" name="Shape 1">
            <a:extLst>
              <a:ext uri="{FF2B5EF4-FFF2-40B4-BE49-F238E27FC236}">
                <a16:creationId xmlns:a16="http://schemas.microsoft.com/office/drawing/2014/main" id="{6573DC3A-45AC-C153-2F1A-A9A897154B1F}"/>
              </a:ext>
            </a:extLst>
          </p:cNvPr>
          <p:cNvSpPr/>
          <p:nvPr/>
        </p:nvSpPr>
        <p:spPr>
          <a:xfrm>
            <a:off x="645625" y="3833879"/>
            <a:ext cx="359601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8" name="Text 3">
            <a:extLst>
              <a:ext uri="{FF2B5EF4-FFF2-40B4-BE49-F238E27FC236}">
                <a16:creationId xmlns:a16="http://schemas.microsoft.com/office/drawing/2014/main" id="{7C68D0E1-FE5A-0824-55EC-E90C6A5D4AAA}"/>
              </a:ext>
            </a:extLst>
          </p:cNvPr>
          <p:cNvSpPr/>
          <p:nvPr/>
        </p:nvSpPr>
        <p:spPr>
          <a:xfrm>
            <a:off x="3674711" y="40167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160" name="Text 4">
            <a:extLst>
              <a:ext uri="{FF2B5EF4-FFF2-40B4-BE49-F238E27FC236}">
                <a16:creationId xmlns:a16="http://schemas.microsoft.com/office/drawing/2014/main" id="{6510757C-6D7F-2469-0280-1FF4586CDC4C}"/>
              </a:ext>
            </a:extLst>
          </p:cNvPr>
          <p:cNvSpPr/>
          <p:nvPr/>
        </p:nvSpPr>
        <p:spPr>
          <a:xfrm>
            <a:off x="-985528" y="4016759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ارصدة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إلى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SPO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66" name="Shape 13">
            <a:extLst>
              <a:ext uri="{FF2B5EF4-FFF2-40B4-BE49-F238E27FC236}">
                <a16:creationId xmlns:a16="http://schemas.microsoft.com/office/drawing/2014/main" id="{BE818018-1511-9140-5B29-E605BBFA5E9E}"/>
              </a:ext>
            </a:extLst>
          </p:cNvPr>
          <p:cNvSpPr/>
          <p:nvPr/>
        </p:nvSpPr>
        <p:spPr>
          <a:xfrm>
            <a:off x="1636942" y="4644747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8" name="Text 14">
            <a:extLst>
              <a:ext uri="{FF2B5EF4-FFF2-40B4-BE49-F238E27FC236}">
                <a16:creationId xmlns:a16="http://schemas.microsoft.com/office/drawing/2014/main" id="{92EEE3E8-FF55-1F2C-F5FA-E83F4DBF3D42}"/>
              </a:ext>
            </a:extLst>
          </p:cNvPr>
          <p:cNvSpPr/>
          <p:nvPr/>
        </p:nvSpPr>
        <p:spPr>
          <a:xfrm>
            <a:off x="1697929" y="4790149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2- عقود مرحلة من العام السابق 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23,873</a:t>
            </a:r>
            <a:endParaRPr lang="en-US" sz="10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70" name="Shape 11">
            <a:extLst>
              <a:ext uri="{FF2B5EF4-FFF2-40B4-BE49-F238E27FC236}">
                <a16:creationId xmlns:a16="http://schemas.microsoft.com/office/drawing/2014/main" id="{0A6E6FFA-951C-589E-1C71-0FB6C29882B8}"/>
              </a:ext>
            </a:extLst>
          </p:cNvPr>
          <p:cNvSpPr/>
          <p:nvPr/>
        </p:nvSpPr>
        <p:spPr>
          <a:xfrm>
            <a:off x="1605195" y="5732665"/>
            <a:ext cx="2453564" cy="566928"/>
          </a:xfrm>
          <a:prstGeom prst="roundRect">
            <a:avLst>
              <a:gd name="adj" fmla="val 9677"/>
            </a:avLst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2" name="Text 12">
            <a:extLst>
              <a:ext uri="{FF2B5EF4-FFF2-40B4-BE49-F238E27FC236}">
                <a16:creationId xmlns:a16="http://schemas.microsoft.com/office/drawing/2014/main" id="{9D7C806A-5535-3B8F-11D3-AA24A92A7F3D}"/>
              </a:ext>
            </a:extLst>
          </p:cNvPr>
          <p:cNvSpPr/>
          <p:nvPr/>
        </p:nvSpPr>
        <p:spPr>
          <a:xfrm>
            <a:off x="1636942" y="5359565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3- ارصدة خلال العام الحالي ( عقود – رواتب)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188,039</a:t>
            </a:r>
            <a:endParaRPr lang="en-US" sz="10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2000" b="1" dirty="0">
                <a:solidFill>
                  <a:srgbClr val="1B1F3B"/>
                </a:solidFill>
                <a:latin typeface="Arial" pitchFamily="34" charset="0"/>
                <a:cs typeface="Arial" pitchFamily="34" charset="-120"/>
              </a:rPr>
              <a:t>تابع تفاصيل اطراف ذات علاقة بين الجهات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86877" y="3538728"/>
            <a:ext cx="311901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715249" y="1097280"/>
            <a:ext cx="3576218" cy="3657600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678820" y="128016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43850" y="1280160"/>
            <a:ext cx="2643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ارصدة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الى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AIO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0A6347B5-DA28-0C50-E2AF-1673669F1AA2}"/>
              </a:ext>
            </a:extLst>
          </p:cNvPr>
          <p:cNvSpPr/>
          <p:nvPr/>
        </p:nvSpPr>
        <p:spPr>
          <a:xfrm>
            <a:off x="8609304" y="2064188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5B8B6861-F4FF-30FA-D7C0-5510B1BD335B}"/>
              </a:ext>
            </a:extLst>
          </p:cNvPr>
          <p:cNvSpPr/>
          <p:nvPr/>
        </p:nvSpPr>
        <p:spPr>
          <a:xfrm>
            <a:off x="8670291" y="2209590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2- عقود مرحلة من العام السابق 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135,238</a:t>
            </a:r>
            <a:endParaRPr lang="en-US" sz="10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0532B4EB-1B3B-FFEC-B3F6-9D01500AD156}"/>
              </a:ext>
            </a:extLst>
          </p:cNvPr>
          <p:cNvSpPr/>
          <p:nvPr/>
        </p:nvSpPr>
        <p:spPr>
          <a:xfrm>
            <a:off x="8670291" y="3017520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3- ارصدة خلال العام الحالي ( عقود – رواتب)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/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752,156</a:t>
            </a:r>
            <a:endParaRPr lang="en-US" sz="10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53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Cairo SemiBold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Hager Halloul</dc:creator>
  <cp:lastModifiedBy>Hana Omer</cp:lastModifiedBy>
  <cp:revision>2</cp:revision>
  <dcterms:created xsi:type="dcterms:W3CDTF">2026-07-13T07:58:50Z</dcterms:created>
  <dcterms:modified xsi:type="dcterms:W3CDTF">2026-07-13T09:44:10Z</dcterms:modified>
</cp:coreProperties>
</file>