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4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58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55868-7C42-2C56-1997-54DAB6BE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B3709-52C1-A445-8172-F731F4D35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B872-4967-FB64-BEFF-A5512809E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C640A-E08F-E772-0EDC-69D75F518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75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053" y="4474745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2000" b="1" u="sng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ملاحظات للتسوية العاجلة</a:t>
            </a:r>
            <a:r>
              <a:rPr lang="ar-AE" sz="3200" b="1" u="sng" dirty="0">
                <a:solidFill>
                  <a:srgbClr val="1B1F3B"/>
                </a:solidFill>
                <a:latin typeface="Arial" pitchFamily="34" charset="0"/>
                <a:cs typeface="Arial" pitchFamily="34" charset="-120"/>
              </a:rPr>
              <a:t>:</a:t>
            </a:r>
            <a:endParaRPr lang="en-US" sz="1600" b="1" u="sng" dirty="0">
              <a:solidFill>
                <a:srgbClr val="1B1F3B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r" rtl="1">
              <a:buNone/>
            </a:pPr>
            <a:endParaRPr lang="ar-AE" sz="3200" b="1" dirty="0">
              <a:solidFill>
                <a:srgbClr val="1B1F3B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r" rtl="1">
              <a:buNone/>
            </a:pPr>
            <a:r>
              <a:rPr lang="ar-AE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1- هناك مذكرة تخص تسوية الفائض من السنوات السابقة يجب اعتمادها من سعادة رئيس القطاع </a:t>
            </a:r>
            <a:endParaRPr lang="en-US" sz="1600" dirty="0">
              <a:solidFill>
                <a:srgbClr val="1B1F3B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 rtl="1">
              <a:buNone/>
            </a:pPr>
            <a:r>
              <a:rPr lang="ar-AE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.</a:t>
            </a:r>
            <a:endParaRPr lang="en-US" sz="1600" dirty="0">
              <a:solidFill>
                <a:srgbClr val="1B1F3B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 rtl="1">
              <a:buNone/>
            </a:pPr>
            <a:r>
              <a:rPr lang="ar-AE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2- أجمالي المبالغ التي يجب ردها من وزارة شؤون مجلس الوزراء وخاصة بالفائض </a:t>
            </a:r>
            <a:r>
              <a:rPr lang="en-US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6,249,650</a:t>
            </a:r>
          </a:p>
          <a:p>
            <a:pPr marL="0" indent="0" algn="r" rtl="1">
              <a:buNone/>
            </a:pPr>
            <a:endParaRPr lang="en-US" sz="1600" dirty="0">
              <a:solidFill>
                <a:srgbClr val="1B1F3B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 rtl="1">
              <a:buNone/>
            </a:pPr>
            <a:r>
              <a:rPr lang="ar-AE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3- اجمالي المبالغ التي يجب ردها من وزارة شؤون مجلس الوزراء و  خاصة بحركات سنوات سابقة </a:t>
            </a:r>
            <a:r>
              <a:rPr lang="en-US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1,195,226</a:t>
            </a:r>
          </a:p>
          <a:p>
            <a:pPr marL="0" indent="0" algn="r" rtl="1">
              <a:buNone/>
            </a:pPr>
            <a:endParaRPr lang="en-US" sz="1600" dirty="0">
              <a:solidFill>
                <a:srgbClr val="1B1F3B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 rtl="1">
              <a:buNone/>
            </a:pPr>
            <a:r>
              <a:rPr lang="ar-AE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4- اجمالي المبالغ التي يجب استلامها من الأمانة الى وزارة شؤون مجلس الوزراء </a:t>
            </a:r>
            <a:r>
              <a:rPr lang="en-US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1,629,442</a:t>
            </a:r>
            <a:r>
              <a:rPr lang="ar-AE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</a:t>
            </a:r>
          </a:p>
          <a:p>
            <a:pPr marL="0" indent="0" algn="r" rtl="1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84053" y="1247361"/>
            <a:ext cx="11277295" cy="1737360"/>
          </a:xfrm>
          <a:prstGeom prst="roundRect">
            <a:avLst>
              <a:gd name="adj" fmla="val 6316"/>
            </a:avLst>
          </a:prstGeom>
          <a:solidFill>
            <a:srgbClr val="4B4FD6"/>
          </a:solidFill>
          <a:ln/>
          <a:effectLst>
            <a:outerShdw blurRad="152400" dist="50800" dir="5400000" algn="bl" rotWithShape="0">
              <a:srgbClr val="1B1F3B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216298" y="1473864"/>
            <a:ext cx="0" cy="1371600"/>
          </a:xfrm>
          <a:prstGeom prst="line">
            <a:avLst/>
          </a:prstGeom>
          <a:noFill/>
          <a:ln w="12700">
            <a:solidFill>
              <a:srgbClr val="828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6907" y="1517904"/>
            <a:ext cx="18490" cy="1263551"/>
          </a:xfrm>
          <a:prstGeom prst="line">
            <a:avLst/>
          </a:prstGeom>
          <a:noFill/>
          <a:ln w="12700">
            <a:solidFill>
              <a:srgbClr val="8286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49716" y="1455575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أجمالي التزامات من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 </a:t>
            </a: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الى الجهات الأخرى</a:t>
            </a:r>
          </a:p>
          <a:p>
            <a:pPr marL="0" indent="0" algn="r" rtl="1">
              <a:buNone/>
            </a:pPr>
            <a:endParaRPr lang="ar-AE" sz="1250" dirty="0">
              <a:solidFill>
                <a:srgbClr val="E3E4FB"/>
              </a:solidFill>
              <a:latin typeface="Cairo SemiBold" panose="00000700000000000000" pitchFamily="2" charset="-78"/>
              <a:ea typeface="Arial" pitchFamily="34" charset="-122"/>
              <a:cs typeface="Cairo SemiBold" panose="00000700000000000000" pitchFamily="2" charset="-78"/>
            </a:endParaRPr>
          </a:p>
          <a:p>
            <a:pPr marL="0" indent="0" algn="r" rtl="1">
              <a:buNone/>
            </a:pP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                                   أعوام سابقة </a:t>
            </a:r>
            <a:endParaRPr lang="en-US" sz="12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73448" y="2141375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52,247,314</a:t>
            </a:r>
            <a:endParaRPr lang="en-US" sz="2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98777" y="1517904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/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أجمالي  التزامات من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MOCA </a:t>
            </a: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الي الجهات الأخرى  </a:t>
            </a:r>
          </a:p>
          <a:p>
            <a:pPr algn="r" rtl="1"/>
            <a:endParaRPr lang="ar-AE" sz="1250" dirty="0">
              <a:solidFill>
                <a:srgbClr val="E3E4FB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 rtl="1"/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                          حتى 30 مايو 2026</a:t>
            </a:r>
            <a:endParaRPr lang="en-US" sz="1250" dirty="0">
              <a:solidFill>
                <a:srgbClr val="E3E4FB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49756" y="2072889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55,861,822</a:t>
            </a:r>
            <a:endParaRPr lang="en-US" sz="2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3102" y="1322987"/>
            <a:ext cx="3429914" cy="1586110"/>
          </a:xfrm>
          <a:prstGeom prst="roundRect">
            <a:avLst>
              <a:gd name="adj" fmla="val 6494"/>
            </a:avLst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542" y="1639807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أجمالي الالتزامات من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MOCA </a:t>
            </a: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ألي الجهات الأخرى لكل الفترات</a:t>
            </a:r>
            <a:endParaRPr lang="en-US" sz="12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26064" y="2085019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108,109,136</a:t>
            </a:r>
            <a:endParaRPr lang="en-US" sz="2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154C3A6F-859C-F123-B0AD-66AEDF0A2994}"/>
              </a:ext>
            </a:extLst>
          </p:cNvPr>
          <p:cNvSpPr/>
          <p:nvPr/>
        </p:nvSpPr>
        <p:spPr>
          <a:xfrm>
            <a:off x="8139988" y="1322986"/>
            <a:ext cx="3429914" cy="1586111"/>
          </a:xfrm>
          <a:prstGeom prst="roundRect">
            <a:avLst>
              <a:gd name="adj" fmla="val 6494"/>
            </a:avLst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18D76D5C-C056-8EFD-E84E-C77B16652E27}"/>
              </a:ext>
            </a:extLst>
          </p:cNvPr>
          <p:cNvSpPr/>
          <p:nvPr/>
        </p:nvSpPr>
        <p:spPr>
          <a:xfrm>
            <a:off x="4362402" y="1322987"/>
            <a:ext cx="3429914" cy="1586111"/>
          </a:xfrm>
          <a:prstGeom prst="roundRect">
            <a:avLst>
              <a:gd name="adj" fmla="val 6494"/>
            </a:avLst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367F2E60-1104-F25D-7157-E40335F6BFE5}"/>
              </a:ext>
            </a:extLst>
          </p:cNvPr>
          <p:cNvSpPr/>
          <p:nvPr/>
        </p:nvSpPr>
        <p:spPr>
          <a:xfrm>
            <a:off x="438711" y="397319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AE" sz="2400" b="1" u="sng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أرصدة الأطراف ذات العلاقة</a:t>
            </a:r>
            <a:r>
              <a:rPr lang="en-US" sz="2400" b="1" u="sng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</a:t>
            </a:r>
            <a:r>
              <a:rPr lang="ar-AE" sz="2400" b="1" u="sng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بين وزارة شؤون مجلس الوزراء والجهات الأخرى </a:t>
            </a:r>
            <a:endParaRPr lang="en-US" sz="2400" u="sng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2000" b="1" dirty="0">
                <a:solidFill>
                  <a:srgbClr val="1B1F3B"/>
                </a:solidFill>
                <a:latin typeface="Arial" pitchFamily="34" charset="0"/>
                <a:cs typeface="Arial" pitchFamily="34" charset="-120"/>
              </a:rPr>
              <a:t>تفاصيل اطراف ذات علاقة بين الجهات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233008" y="914400"/>
            <a:ext cx="550148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21847" y="109728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21847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61608" y="1097280"/>
            <a:ext cx="456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التزامات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إلى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PMO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52331" y="1691640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من أعوام سابقة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052331" y="1965960"/>
            <a:ext cx="245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48,020,249</a:t>
            </a:r>
            <a:endParaRPr lang="en-US" sz="17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61608" y="1691640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حتى تاريخه من العام الحالي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61608" y="1965960"/>
            <a:ext cx="245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44,411,950</a:t>
            </a:r>
          </a:p>
        </p:txBody>
      </p:sp>
      <p:sp>
        <p:nvSpPr>
          <p:cNvPr id="11" name="Shape 9"/>
          <p:cNvSpPr/>
          <p:nvPr/>
        </p:nvSpPr>
        <p:spPr>
          <a:xfrm>
            <a:off x="6461608" y="2441448"/>
            <a:ext cx="5044288" cy="36576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61608" y="244144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AE" sz="1050" b="1" dirty="0">
                <a:solidFill>
                  <a:srgbClr val="4B4FD6"/>
                </a:solidFill>
                <a:latin typeface="Arial" pitchFamily="34" charset="0"/>
                <a:cs typeface="Arial" pitchFamily="34" charset="-120"/>
              </a:rPr>
              <a:t> تفاصيل التزامات أعوام سابقة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331" y="2898648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E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25483" y="2935224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</a:t>
            </a: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ع</a:t>
            </a:r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</a:t>
            </a: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ج</a:t>
            </a:r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ل للتسوية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7,444,876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61608" y="2898648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4760" y="2935224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للتسوية</a:t>
            </a:r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خلال العام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40,575,373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914400"/>
            <a:ext cx="550148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46040" y="109728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60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1097280"/>
            <a:ext cx="456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التزامات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MOCA 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إلى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GSOC</a:t>
            </a:r>
          </a:p>
        </p:txBody>
      </p:sp>
      <p:sp>
        <p:nvSpPr>
          <p:cNvPr id="21" name="Text 19"/>
          <p:cNvSpPr/>
          <p:nvPr/>
        </p:nvSpPr>
        <p:spPr>
          <a:xfrm>
            <a:off x="3276524" y="1691640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من أعوام سابقة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76524" y="1965960"/>
            <a:ext cx="245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1,070,186</a:t>
            </a:r>
          </a:p>
        </p:txBody>
      </p:sp>
      <p:sp>
        <p:nvSpPr>
          <p:cNvPr id="23" name="Text 21"/>
          <p:cNvSpPr/>
          <p:nvPr/>
        </p:nvSpPr>
        <p:spPr>
          <a:xfrm>
            <a:off x="685800" y="1691640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حتى تاريخه من العام الحالي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5800" y="1965960"/>
            <a:ext cx="245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5,259,827</a:t>
            </a:r>
          </a:p>
        </p:txBody>
      </p:sp>
      <p:sp>
        <p:nvSpPr>
          <p:cNvPr id="26" name="Text 24"/>
          <p:cNvSpPr/>
          <p:nvPr/>
        </p:nvSpPr>
        <p:spPr>
          <a:xfrm>
            <a:off x="685800" y="244144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2898648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8952" y="2935224"/>
            <a:ext cx="2307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للتسوية</a:t>
            </a:r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خلال العام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2,699,628</a:t>
            </a:r>
            <a:endParaRPr lang="en-US" sz="10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33008" y="3840480"/>
            <a:ext cx="550148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1121847" y="402336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121847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61608" y="4023360"/>
            <a:ext cx="456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التزامات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MOCA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إلي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GMO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52331" y="4617720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من أعوام </a:t>
            </a: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سابقة</a:t>
            </a:r>
          </a:p>
        </p:txBody>
      </p:sp>
      <p:sp>
        <p:nvSpPr>
          <p:cNvPr id="36" name="Text 34"/>
          <p:cNvSpPr/>
          <p:nvPr/>
        </p:nvSpPr>
        <p:spPr>
          <a:xfrm>
            <a:off x="9052331" y="4892040"/>
            <a:ext cx="245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405,672</a:t>
            </a:r>
          </a:p>
        </p:txBody>
      </p:sp>
      <p:sp>
        <p:nvSpPr>
          <p:cNvPr id="37" name="Text 35"/>
          <p:cNvSpPr/>
          <p:nvPr/>
        </p:nvSpPr>
        <p:spPr>
          <a:xfrm>
            <a:off x="6370166" y="4663440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حتى تاريخه من العام الحالي</a:t>
            </a:r>
          </a:p>
          <a:p>
            <a:pPr algn="r" rtl="1"/>
            <a:r>
              <a:rPr lang="ar-AE" sz="950" dirty="0">
                <a:solidFill>
                  <a:srgbClr val="A5A9C1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مستحق من </a:t>
            </a: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GMO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61608" y="4892040"/>
            <a:ext cx="245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r">
              <a:buNone/>
            </a:pPr>
            <a:r>
              <a:rPr lang="en-US" sz="1700" b="1" dirty="0">
                <a:solidFill>
                  <a:srgbClr val="FF0000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167,455-</a:t>
            </a:r>
          </a:p>
        </p:txBody>
      </p:sp>
      <p:sp>
        <p:nvSpPr>
          <p:cNvPr id="39" name="Shape 37"/>
          <p:cNvSpPr/>
          <p:nvPr/>
        </p:nvSpPr>
        <p:spPr>
          <a:xfrm>
            <a:off x="6461608" y="5367528"/>
            <a:ext cx="5044288" cy="36576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61608" y="536752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ar-AE" sz="1050" b="1" dirty="0">
                <a:solidFill>
                  <a:srgbClr val="4B4FD6"/>
                </a:solidFill>
                <a:latin typeface="Arial" pitchFamily="34" charset="0"/>
                <a:cs typeface="Arial" pitchFamily="34" charset="-120"/>
              </a:rPr>
              <a:t> تفاصيل التزامات أعوام سابقة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61608" y="5824728"/>
            <a:ext cx="5044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الرصيد من أعوام سابقة يخص مشاريع للتسوية خلال العام الحالي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80060" y="3840480"/>
            <a:ext cx="550148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46040" y="402336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460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" y="4023360"/>
            <a:ext cx="456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التزامات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إلى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FCSC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276524" y="4617720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من أعوام سابقة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276524" y="4892040"/>
            <a:ext cx="245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1,867,304</a:t>
            </a:r>
          </a:p>
        </p:txBody>
      </p:sp>
      <p:sp>
        <p:nvSpPr>
          <p:cNvPr id="48" name="Text 46"/>
          <p:cNvSpPr/>
          <p:nvPr/>
        </p:nvSpPr>
        <p:spPr>
          <a:xfrm>
            <a:off x="685800" y="4617720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حتى تاريخه من العام الحالي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5800" y="4892040"/>
            <a:ext cx="2453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4,007,013</a:t>
            </a:r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3935BD28-1FEB-5FF4-1F3A-0852797B6216}"/>
              </a:ext>
            </a:extLst>
          </p:cNvPr>
          <p:cNvSpPr/>
          <p:nvPr/>
        </p:nvSpPr>
        <p:spPr>
          <a:xfrm>
            <a:off x="685800" y="2450592"/>
            <a:ext cx="5044288" cy="36576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D10587A8-B16C-E3A3-B58E-66D07AADFF4A}"/>
              </a:ext>
            </a:extLst>
          </p:cNvPr>
          <p:cNvSpPr/>
          <p:nvPr/>
        </p:nvSpPr>
        <p:spPr>
          <a:xfrm>
            <a:off x="685800" y="2450592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AE" sz="1050" b="1" dirty="0">
                <a:solidFill>
                  <a:srgbClr val="4B4FD6"/>
                </a:solidFill>
                <a:latin typeface="Arial" pitchFamily="34" charset="0"/>
                <a:cs typeface="Arial" pitchFamily="34" charset="-120"/>
              </a:rPr>
              <a:t> تفاصيل التزامات أعوام سابقة</a:t>
            </a:r>
            <a:endParaRPr lang="en-US" sz="1050" dirty="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72EA39D0-D662-095C-DA3E-E5B07A11DFC5}"/>
              </a:ext>
            </a:extLst>
          </p:cNvPr>
          <p:cNvSpPr/>
          <p:nvPr/>
        </p:nvSpPr>
        <p:spPr>
          <a:xfrm>
            <a:off x="3276523" y="2880360"/>
            <a:ext cx="2453564" cy="566928"/>
          </a:xfrm>
          <a:prstGeom prst="roundRect">
            <a:avLst>
              <a:gd name="adj" fmla="val 9677"/>
            </a:avLst>
          </a:prstGeom>
          <a:solidFill>
            <a:srgbClr val="FEE4DC"/>
          </a:solidFill>
          <a:ln/>
        </p:spPr>
        <p:txBody>
          <a:bodyPr/>
          <a:lstStyle/>
          <a:p>
            <a:pPr algn="r"/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</a:t>
            </a: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ع</a:t>
            </a:r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</a:t>
            </a: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ج</a:t>
            </a:r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ل للتسوية </a:t>
            </a: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( يحصل من الأمانة العامة )</a:t>
            </a:r>
          </a:p>
          <a:p>
            <a:pPr algn="r"/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(</a:t>
            </a: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1,629,442)</a:t>
            </a:r>
          </a:p>
        </p:txBody>
      </p:sp>
      <p:sp>
        <p:nvSpPr>
          <p:cNvPr id="56" name="Shape 37">
            <a:extLst>
              <a:ext uri="{FF2B5EF4-FFF2-40B4-BE49-F238E27FC236}">
                <a16:creationId xmlns:a16="http://schemas.microsoft.com/office/drawing/2014/main" id="{6CB5B38B-B32B-8FE5-851C-A4ABCB995F6D}"/>
              </a:ext>
            </a:extLst>
          </p:cNvPr>
          <p:cNvSpPr/>
          <p:nvPr/>
        </p:nvSpPr>
        <p:spPr>
          <a:xfrm>
            <a:off x="685800" y="5337048"/>
            <a:ext cx="5044288" cy="36576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38">
            <a:extLst>
              <a:ext uri="{FF2B5EF4-FFF2-40B4-BE49-F238E27FC236}">
                <a16:creationId xmlns:a16="http://schemas.microsoft.com/office/drawing/2014/main" id="{0BAB63D6-DDC9-3F0F-670F-E07C8C80E67A}"/>
              </a:ext>
            </a:extLst>
          </p:cNvPr>
          <p:cNvSpPr/>
          <p:nvPr/>
        </p:nvSpPr>
        <p:spPr>
          <a:xfrm>
            <a:off x="685800" y="533704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ar-AE" sz="1050" b="1" dirty="0">
                <a:solidFill>
                  <a:srgbClr val="4B4FD6"/>
                </a:solidFill>
                <a:latin typeface="Arial" pitchFamily="34" charset="0"/>
                <a:cs typeface="Arial" pitchFamily="34" charset="-120"/>
              </a:rPr>
              <a:t> تفاصيل التزامات أعوام سابقة</a:t>
            </a:r>
            <a:endParaRPr lang="en-US" sz="1050" dirty="0"/>
          </a:p>
        </p:txBody>
      </p:sp>
      <p:sp>
        <p:nvSpPr>
          <p:cNvPr id="58" name="Text 39">
            <a:extLst>
              <a:ext uri="{FF2B5EF4-FFF2-40B4-BE49-F238E27FC236}">
                <a16:creationId xmlns:a16="http://schemas.microsoft.com/office/drawing/2014/main" id="{5C0C3420-65F1-4F15-722B-017F565D4668}"/>
              </a:ext>
            </a:extLst>
          </p:cNvPr>
          <p:cNvSpPr/>
          <p:nvPr/>
        </p:nvSpPr>
        <p:spPr>
          <a:xfrm>
            <a:off x="617220" y="5809488"/>
            <a:ext cx="5044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الرصيد من أعوام سابقة يخص مشاريع للتسوية خلال العام الحالي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2000" b="1" dirty="0">
                <a:solidFill>
                  <a:srgbClr val="1B1F3B"/>
                </a:solidFill>
                <a:latin typeface="Arial" pitchFamily="34" charset="0"/>
                <a:cs typeface="Arial" pitchFamily="34" charset="-120"/>
              </a:rPr>
              <a:t>تابع تفاصيل اطراف ذات علاقة بين الجهات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158277" y="914400"/>
            <a:ext cx="3576218" cy="3657600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21847" y="109728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21847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86877" y="1097280"/>
            <a:ext cx="2643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التزامات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 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الى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GEEO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14966" y="1691640"/>
            <a:ext cx="1490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من أعوام سابقة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14966" y="1965960"/>
            <a:ext cx="1490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724,792</a:t>
            </a:r>
            <a:endParaRPr lang="en-US" sz="17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86877" y="1691640"/>
            <a:ext cx="1701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حتى تاريخه من العام الحالي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86877" y="1965960"/>
            <a:ext cx="1490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1,410,292</a:t>
            </a:r>
            <a:endParaRPr lang="en-US" sz="17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386877" y="2441448"/>
            <a:ext cx="3119018" cy="36576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86877" y="2441448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ar-AE" sz="1050" b="1" dirty="0">
                <a:solidFill>
                  <a:srgbClr val="4B4FD6"/>
                </a:solidFill>
                <a:latin typeface="Arial" pitchFamily="34" charset="0"/>
                <a:cs typeface="Arial" pitchFamily="34" charset="-120"/>
              </a:rPr>
              <a:t> تفاصيل التزامات أعوام سابقة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14966" y="2898648"/>
            <a:ext cx="1490929" cy="566928"/>
          </a:xfrm>
          <a:prstGeom prst="roundRect">
            <a:avLst>
              <a:gd name="adj" fmla="val 9677"/>
            </a:avLst>
          </a:prstGeom>
          <a:solidFill>
            <a:srgbClr val="FE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88118" y="2935224"/>
            <a:ext cx="13446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عاجل للتسوية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298,000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86877" y="2898648"/>
            <a:ext cx="1490929" cy="566928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60029" y="2935224"/>
            <a:ext cx="13446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للتسوية</a:t>
            </a:r>
            <a:r>
              <a:rPr lang="en-US" sz="800" dirty="0">
                <a:solidFill>
                  <a:srgbClr val="8A6A25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خلال العام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marL="0" indent="0" algn="r">
              <a:buNone/>
            </a:pPr>
            <a:r>
              <a:rPr lang="en-US" sz="105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426,792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86877" y="3538728"/>
            <a:ext cx="311901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07738" y="914400"/>
            <a:ext cx="3576218" cy="3657600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271309" y="109728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71309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36338" y="1097280"/>
            <a:ext cx="2643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التزامات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 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الى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SPO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64428" y="1691640"/>
            <a:ext cx="1490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من أعوام سابقة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64428" y="1965960"/>
            <a:ext cx="1490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23,873</a:t>
            </a:r>
            <a:endParaRPr lang="en-US" sz="17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36338" y="1691640"/>
            <a:ext cx="17245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حتى تاريخه من العام الحالي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36338" y="1965960"/>
            <a:ext cx="1490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188,039</a:t>
            </a:r>
            <a:endParaRPr lang="en-US" sz="17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36338" y="2441448"/>
            <a:ext cx="3119018" cy="36576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36338" y="2441448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ar-AE" sz="1050" b="1" dirty="0">
                <a:solidFill>
                  <a:srgbClr val="4B4FD6"/>
                </a:solidFill>
                <a:latin typeface="Arial" pitchFamily="34" charset="0"/>
                <a:cs typeface="Arial" pitchFamily="34" charset="-120"/>
              </a:rPr>
              <a:t> تفاصيل التزامات أعوام سابقة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199" y="914400"/>
            <a:ext cx="3576218" cy="3657600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20770" y="1097280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2077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1097280"/>
            <a:ext cx="2643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التزامات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MOCA 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الى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AIO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313889" y="1691640"/>
            <a:ext cx="1490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من أعوام سابقة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313889" y="1965960"/>
            <a:ext cx="1490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135,238</a:t>
            </a:r>
            <a:endParaRPr lang="en-US" sz="17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5800" y="1691640"/>
            <a:ext cx="17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A5A9C1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رصيد حتى تاريخه من العام الحالي</a:t>
            </a:r>
            <a:endParaRPr lang="en-US" sz="9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5800" y="1965960"/>
            <a:ext cx="1490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752,156</a:t>
            </a:r>
            <a:endParaRPr lang="en-US" sz="17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5800" y="2441448"/>
            <a:ext cx="3119018" cy="36576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2441448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ar-AE" sz="1050" b="1" dirty="0">
                <a:solidFill>
                  <a:srgbClr val="4B4FD6"/>
                </a:solidFill>
                <a:latin typeface="Arial" pitchFamily="34" charset="0"/>
                <a:cs typeface="Arial" pitchFamily="34" charset="-120"/>
              </a:rPr>
              <a:t> تفاصيل التزامات أعوام سابقة</a:t>
            </a:r>
            <a:endParaRPr lang="en-US" sz="1050" dirty="0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3C2D62D2-CACF-081D-2BF2-FAE3F82BB30D}"/>
              </a:ext>
            </a:extLst>
          </p:cNvPr>
          <p:cNvSpPr/>
          <p:nvPr/>
        </p:nvSpPr>
        <p:spPr>
          <a:xfrm>
            <a:off x="2611068" y="2935224"/>
            <a:ext cx="5044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الرصيد من أعوام سابقة يخص مشاريع للتسوية خلال العام الحالي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CD3D0652-C222-3024-3CA4-06DFFFC03BFD}"/>
              </a:ext>
            </a:extLst>
          </p:cNvPr>
          <p:cNvSpPr/>
          <p:nvPr/>
        </p:nvSpPr>
        <p:spPr>
          <a:xfrm>
            <a:off x="-1239470" y="2973946"/>
            <a:ext cx="5044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ar-AE" sz="800" dirty="0">
                <a:solidFill>
                  <a:srgbClr val="8A6A25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الرصيد من أعوام سابقة يخص مشاريع للتسوية خلال العام الحالي</a:t>
            </a:r>
            <a:endParaRPr lang="en-US" sz="8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7DB8F-DC72-5C3B-3A72-AE3AF71E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439526-9288-284D-1CB1-0B5396FDE549}"/>
              </a:ext>
            </a:extLst>
          </p:cNvPr>
          <p:cNvSpPr/>
          <p:nvPr/>
        </p:nvSpPr>
        <p:spPr>
          <a:xfrm>
            <a:off x="246687" y="3523565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2000" b="1" u="sng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ملاحظات للتسوية العاجلة</a:t>
            </a:r>
            <a:r>
              <a:rPr lang="ar-AE" sz="3200" b="1" u="sng" dirty="0">
                <a:solidFill>
                  <a:srgbClr val="1B1F3B"/>
                </a:solidFill>
                <a:latin typeface="Arial" pitchFamily="34" charset="0"/>
                <a:cs typeface="Arial" pitchFamily="34" charset="-120"/>
              </a:rPr>
              <a:t>:</a:t>
            </a:r>
            <a:endParaRPr lang="en-US" sz="1600" b="1" u="sng" dirty="0">
              <a:solidFill>
                <a:srgbClr val="1B1F3B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r" rtl="1">
              <a:buNone/>
            </a:pPr>
            <a:endParaRPr lang="ar-AE" sz="3200" b="1" dirty="0">
              <a:solidFill>
                <a:srgbClr val="1B1F3B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r" rtl="1">
              <a:buNone/>
            </a:pPr>
            <a:r>
              <a:rPr lang="ar-AE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1-بالنسبة للمبالغ المستحقة على </a:t>
            </a:r>
            <a:r>
              <a:rPr lang="en-US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GDFO </a:t>
            </a:r>
            <a:r>
              <a:rPr lang="ar-AE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</a:t>
            </a:r>
          </a:p>
          <a:p>
            <a:pPr marL="0" indent="0" algn="r" rtl="1">
              <a:buNone/>
            </a:pPr>
            <a:r>
              <a:rPr lang="ar-AE" sz="1600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ينصح بأجراء تسوية عاجلة الخاصة بالسنوات السابقة </a:t>
            </a:r>
          </a:p>
          <a:p>
            <a:pPr marL="0" indent="0" algn="r" rtl="1">
              <a:buNone/>
            </a:pP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B480AA-4F6E-789D-4EDC-D1BAD4175E82}"/>
              </a:ext>
            </a:extLst>
          </p:cNvPr>
          <p:cNvSpPr/>
          <p:nvPr/>
        </p:nvSpPr>
        <p:spPr>
          <a:xfrm>
            <a:off x="365358" y="1128258"/>
            <a:ext cx="11277295" cy="1737360"/>
          </a:xfrm>
          <a:prstGeom prst="roundRect">
            <a:avLst>
              <a:gd name="adj" fmla="val 6316"/>
            </a:avLst>
          </a:prstGeom>
          <a:solidFill>
            <a:srgbClr val="4B4FD6"/>
          </a:solidFill>
          <a:ln/>
          <a:effectLst>
            <a:outerShdw blurRad="152400" dist="50800" dir="5400000" algn="bl" rotWithShape="0">
              <a:srgbClr val="1B1F3B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EDB896-EA5A-6611-7D98-AC5147BFB0A4}"/>
              </a:ext>
            </a:extLst>
          </p:cNvPr>
          <p:cNvSpPr/>
          <p:nvPr/>
        </p:nvSpPr>
        <p:spPr>
          <a:xfrm>
            <a:off x="4216298" y="1473864"/>
            <a:ext cx="0" cy="1371600"/>
          </a:xfrm>
          <a:prstGeom prst="line">
            <a:avLst/>
          </a:prstGeom>
          <a:noFill/>
          <a:ln w="12700">
            <a:solidFill>
              <a:srgbClr val="828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A670848-1D56-03D0-5BB1-0EE80A3B77F3}"/>
              </a:ext>
            </a:extLst>
          </p:cNvPr>
          <p:cNvSpPr/>
          <p:nvPr/>
        </p:nvSpPr>
        <p:spPr>
          <a:xfrm>
            <a:off x="7956907" y="1517904"/>
            <a:ext cx="18490" cy="1263551"/>
          </a:xfrm>
          <a:prstGeom prst="line">
            <a:avLst/>
          </a:prstGeom>
          <a:noFill/>
          <a:ln w="12700">
            <a:solidFill>
              <a:srgbClr val="8286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572EF4-9583-5E8A-23EC-E9F727DAA829}"/>
              </a:ext>
            </a:extLst>
          </p:cNvPr>
          <p:cNvSpPr/>
          <p:nvPr/>
        </p:nvSpPr>
        <p:spPr>
          <a:xfrm>
            <a:off x="7948539" y="1627819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أجمالي التزامات من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GDFO</a:t>
            </a: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إلى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PMO</a:t>
            </a: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حتى العام</a:t>
            </a:r>
            <a:endParaRPr lang="en-US" sz="1250" dirty="0">
              <a:solidFill>
                <a:srgbClr val="E3E4FB"/>
              </a:solidFill>
              <a:latin typeface="Cairo SemiBold" panose="00000700000000000000" pitchFamily="2" charset="-78"/>
              <a:ea typeface="Arial" pitchFamily="34" charset="-122"/>
              <a:cs typeface="Cairo SemiBold" panose="00000700000000000000" pitchFamily="2" charset="-78"/>
            </a:endParaRPr>
          </a:p>
          <a:p>
            <a:pPr marL="0" indent="0" algn="r" rtl="1">
              <a:buNone/>
            </a:pP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              (مرفق تفاصيل) </a:t>
            </a:r>
            <a:endParaRPr lang="en-US" sz="12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BAC5D6-E603-B4D7-FA44-A31A4330AD76}"/>
              </a:ext>
            </a:extLst>
          </p:cNvPr>
          <p:cNvSpPr/>
          <p:nvPr/>
        </p:nvSpPr>
        <p:spPr>
          <a:xfrm>
            <a:off x="9609208" y="2019027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878,446</a:t>
            </a:r>
            <a:endParaRPr lang="en-US" sz="2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B72DA51-06E0-A3E8-FB5D-8AB92364BBE8}"/>
              </a:ext>
            </a:extLst>
          </p:cNvPr>
          <p:cNvSpPr/>
          <p:nvPr/>
        </p:nvSpPr>
        <p:spPr>
          <a:xfrm>
            <a:off x="4398777" y="1517904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/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أجمالي التزامات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</a:t>
            </a: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من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GEEO</a:t>
            </a: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الي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FCSC</a:t>
            </a: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</a:t>
            </a:r>
            <a:endParaRPr lang="en-US" sz="1250" dirty="0">
              <a:solidFill>
                <a:srgbClr val="E3E4FB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 rtl="1"/>
            <a:endParaRPr lang="ar-AE" sz="1250" dirty="0">
              <a:solidFill>
                <a:srgbClr val="E3E4FB"/>
              </a:solidFill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r" rtl="1"/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خاصة بأهداف التنمية المستدامة ؛ مذكرة لاعتماد سعادة محمد بن طليعة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NOV 2025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955AD8-7605-BDD6-9D4E-D4054DDB0B74}"/>
              </a:ext>
            </a:extLst>
          </p:cNvPr>
          <p:cNvSpPr/>
          <p:nvPr/>
        </p:nvSpPr>
        <p:spPr>
          <a:xfrm>
            <a:off x="5722473" y="2288099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105,000</a:t>
            </a:r>
            <a:endParaRPr lang="en-US" sz="2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2683F37-85B9-BFBA-C903-81B2380A1FBA}"/>
              </a:ext>
            </a:extLst>
          </p:cNvPr>
          <p:cNvSpPr/>
          <p:nvPr/>
        </p:nvSpPr>
        <p:spPr>
          <a:xfrm>
            <a:off x="463715" y="1203881"/>
            <a:ext cx="3598963" cy="1577271"/>
          </a:xfrm>
          <a:prstGeom prst="roundRect">
            <a:avLst>
              <a:gd name="adj" fmla="val 6494"/>
            </a:avLst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CA4E54-AB47-1221-BEB5-0EADBD336E35}"/>
              </a:ext>
            </a:extLst>
          </p:cNvPr>
          <p:cNvSpPr/>
          <p:nvPr/>
        </p:nvSpPr>
        <p:spPr>
          <a:xfrm>
            <a:off x="175943" y="1510829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اجمالي التزامات من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GSOC</a:t>
            </a: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الى </a:t>
            </a:r>
            <a:r>
              <a:rPr lang="en-US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GEEOO</a:t>
            </a:r>
          </a:p>
          <a:p>
            <a:pPr marL="0" indent="0" algn="r" rtl="1">
              <a:buNone/>
            </a:pPr>
            <a:r>
              <a:rPr lang="ar-AE" sz="1250" dirty="0">
                <a:solidFill>
                  <a:srgbClr val="E3E4F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خاصة بجائزة التميز</a:t>
            </a:r>
            <a:endParaRPr lang="en-US" sz="125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E5F5B33-4052-4F69-73D1-1C64C0399419}"/>
              </a:ext>
            </a:extLst>
          </p:cNvPr>
          <p:cNvSpPr/>
          <p:nvPr/>
        </p:nvSpPr>
        <p:spPr>
          <a:xfrm>
            <a:off x="1618488" y="1975104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8,500,000</a:t>
            </a:r>
            <a:endParaRPr lang="en-US" sz="20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2B9E2B1D-E08A-C5BA-4EC8-BB103C3054C7}"/>
              </a:ext>
            </a:extLst>
          </p:cNvPr>
          <p:cNvSpPr/>
          <p:nvPr/>
        </p:nvSpPr>
        <p:spPr>
          <a:xfrm>
            <a:off x="4340934" y="1203881"/>
            <a:ext cx="3429914" cy="1577271"/>
          </a:xfrm>
          <a:prstGeom prst="roundRect">
            <a:avLst>
              <a:gd name="adj" fmla="val 6494"/>
            </a:avLst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AA8BDDB6-E31A-E984-78AE-093C851FFB60}"/>
              </a:ext>
            </a:extLst>
          </p:cNvPr>
          <p:cNvSpPr/>
          <p:nvPr/>
        </p:nvSpPr>
        <p:spPr>
          <a:xfrm>
            <a:off x="8034880" y="1279507"/>
            <a:ext cx="3429914" cy="1586111"/>
          </a:xfrm>
          <a:prstGeom prst="roundRect">
            <a:avLst>
              <a:gd name="adj" fmla="val 6494"/>
            </a:avLst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F8F93B03-F973-9215-5154-63EA12A91E31}"/>
              </a:ext>
            </a:extLst>
          </p:cNvPr>
          <p:cNvSpPr/>
          <p:nvPr/>
        </p:nvSpPr>
        <p:spPr>
          <a:xfrm>
            <a:off x="438711" y="397319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AE" sz="2400" b="1" u="sng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أرصدة الأطراف ذات العلاقة</a:t>
            </a:r>
            <a:r>
              <a:rPr lang="en-US" sz="2400" b="1" u="sng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 </a:t>
            </a:r>
            <a:r>
              <a:rPr lang="ar-AE" sz="2400" b="1" u="sng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بين جهات أخرى</a:t>
            </a:r>
            <a:endParaRPr lang="en-US" sz="2400" u="sng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3787E9-BA1A-7F01-0E3F-BEB74D3E067C}"/>
              </a:ext>
            </a:extLst>
          </p:cNvPr>
          <p:cNvSpPr/>
          <p:nvPr/>
        </p:nvSpPr>
        <p:spPr>
          <a:xfrm>
            <a:off x="2274569" y="3048544"/>
            <a:ext cx="3576218" cy="3657600"/>
          </a:xfrm>
          <a:prstGeom prst="roundRect">
            <a:avLst>
              <a:gd name="adj" fmla="val 2301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7E9F2"/>
            </a:solidFill>
            <a:prstDash val="solid"/>
          </a:ln>
          <a:effectLst>
            <a:outerShdw blurRad="1016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2C3A81F8-6667-A601-AD5E-0F489AE0AD60}"/>
              </a:ext>
            </a:extLst>
          </p:cNvPr>
          <p:cNvSpPr/>
          <p:nvPr/>
        </p:nvSpPr>
        <p:spPr>
          <a:xfrm>
            <a:off x="5109825" y="3362521"/>
            <a:ext cx="384048" cy="384048"/>
          </a:xfrm>
          <a:prstGeom prst="ellipse">
            <a:avLst/>
          </a:prstGeom>
          <a:solidFill>
            <a:srgbClr val="ECEE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02F6F05-E3EB-4496-F2A7-5FE1B015A1A6}"/>
              </a:ext>
            </a:extLst>
          </p:cNvPr>
          <p:cNvSpPr/>
          <p:nvPr/>
        </p:nvSpPr>
        <p:spPr>
          <a:xfrm>
            <a:off x="2374855" y="3362521"/>
            <a:ext cx="2643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التزامات من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GDFO </a:t>
            </a:r>
            <a:r>
              <a:rPr lang="ar-AE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 الى </a:t>
            </a:r>
            <a:r>
              <a:rPr lang="en-US" sz="1400" b="1" dirty="0">
                <a:solidFill>
                  <a:srgbClr val="1B1F3B"/>
                </a:solidFill>
                <a:latin typeface="Cairo SemiBold" panose="00000700000000000000" pitchFamily="2" charset="-78"/>
                <a:ea typeface="Arial" pitchFamily="34" charset="-122"/>
                <a:cs typeface="Cairo SemiBold" panose="00000700000000000000" pitchFamily="2" charset="-78"/>
              </a:rPr>
              <a:t>PMO</a:t>
            </a:r>
            <a:endParaRPr lang="en-US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5B71A54-D0E0-A828-C934-BF36764D97D3}"/>
              </a:ext>
            </a:extLst>
          </p:cNvPr>
          <p:cNvSpPr/>
          <p:nvPr/>
        </p:nvSpPr>
        <p:spPr>
          <a:xfrm>
            <a:off x="3125756" y="3956881"/>
            <a:ext cx="2368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AE" sz="1100" b="1" dirty="0">
                <a:solidFill>
                  <a:srgbClr val="A5A9C1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رصيد يجب تسويته يخص سنوات سابقة</a:t>
            </a:r>
            <a:endParaRPr lang="en-US" sz="1100" b="1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9B11A445-62DC-E9E8-37CA-0CE319C13BF2}"/>
              </a:ext>
            </a:extLst>
          </p:cNvPr>
          <p:cNvSpPr/>
          <p:nvPr/>
        </p:nvSpPr>
        <p:spPr>
          <a:xfrm>
            <a:off x="3125756" y="4259424"/>
            <a:ext cx="1490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B1F3B"/>
                </a:solidFill>
                <a:latin typeface="Cairo SemiBold" panose="00000700000000000000" pitchFamily="2" charset="-78"/>
                <a:cs typeface="Cairo SemiBold" panose="00000700000000000000" pitchFamily="2" charset="-78"/>
              </a:rPr>
              <a:t>712,095</a:t>
            </a:r>
            <a:endParaRPr lang="en-US" sz="17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5404ED19-E62E-7519-B711-5F1CDD36A9BD}"/>
              </a:ext>
            </a:extLst>
          </p:cNvPr>
          <p:cNvSpPr/>
          <p:nvPr/>
        </p:nvSpPr>
        <p:spPr>
          <a:xfrm>
            <a:off x="2374855" y="4706689"/>
            <a:ext cx="3119018" cy="36576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ln/>
        </p:spPr>
        <p:txBody>
          <a:bodyPr/>
          <a:lstStyle/>
          <a:p>
            <a:pPr algn="r"/>
            <a:r>
              <a:rPr lang="ar-AE" sz="1400" b="1" dirty="0">
                <a:solidFill>
                  <a:srgbClr val="4B4FD6"/>
                </a:solidFill>
                <a:latin typeface="Arial" pitchFamily="34" charset="0"/>
                <a:cs typeface="Arial" pitchFamily="34" charset="-120"/>
              </a:rPr>
              <a:t> تفاصيل التزامات أعوام سابقة</a:t>
            </a:r>
            <a:endParaRPr lang="en-US" sz="140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DBDFFBA5-CD81-C98E-ADCC-406D0BC4C03E}"/>
              </a:ext>
            </a:extLst>
          </p:cNvPr>
          <p:cNvSpPr/>
          <p:nvPr/>
        </p:nvSpPr>
        <p:spPr>
          <a:xfrm>
            <a:off x="4062678" y="5100672"/>
            <a:ext cx="1659795" cy="749622"/>
          </a:xfrm>
          <a:prstGeom prst="roundRect">
            <a:avLst>
              <a:gd name="adj" fmla="val 9677"/>
            </a:avLst>
          </a:prstGeom>
          <a:solidFill>
            <a:srgbClr val="FEE4DC"/>
          </a:solidFill>
          <a:ln/>
        </p:spPr>
        <p:txBody>
          <a:bodyPr/>
          <a:lstStyle/>
          <a:p>
            <a:pPr algn="r" rtl="1"/>
            <a:r>
              <a:rPr lang="ar-AE" sz="1400" dirty="0">
                <a:latin typeface="Cairo SemiBold" panose="00000700000000000000" pitchFamily="2" charset="-78"/>
                <a:cs typeface="Cairo SemiBold" panose="00000700000000000000" pitchFamily="2" charset="-78"/>
              </a:rPr>
              <a:t>مستحق من </a:t>
            </a:r>
            <a:r>
              <a:rPr lang="en-US" sz="1400" dirty="0">
                <a:latin typeface="Cairo SemiBold" panose="00000700000000000000" pitchFamily="2" charset="-78"/>
                <a:cs typeface="Cairo SemiBold" panose="00000700000000000000" pitchFamily="2" charset="-78"/>
              </a:rPr>
              <a:t> PMO</a:t>
            </a:r>
            <a:endParaRPr lang="ar-AE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ctr" rtl="0"/>
            <a:r>
              <a:rPr lang="en-US" sz="1600" b="1" i="0" u="none" strike="noStrike" kern="1200" baseline="0" dirty="0">
                <a:solidFill>
                  <a:srgbClr val="1B1F3B"/>
                </a:solidFill>
                <a:latin typeface="Cairo SemiBold" panose="00000700000000000000" pitchFamily="2" charset="-78"/>
              </a:rPr>
              <a:t>244,276.83</a:t>
            </a:r>
            <a:endParaRPr lang="en-US" sz="1800" b="0" i="0" u="none" strike="noStrike" kern="1200" baseline="0" dirty="0">
              <a:solidFill>
                <a:srgbClr val="000000"/>
              </a:solidFill>
              <a:latin typeface="Cairo SemiBold" panose="00000700000000000000" pitchFamily="2" charset="-78"/>
            </a:endParaRPr>
          </a:p>
          <a:p>
            <a:pPr algn="r" rtl="1"/>
            <a:endParaRPr lang="en-US" dirty="0"/>
          </a:p>
          <a:p>
            <a:pPr algn="r" rtl="1"/>
            <a:endParaRPr lang="en-US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26E56CB4-02E3-BF1C-6F9A-CDB728D05331}"/>
              </a:ext>
            </a:extLst>
          </p:cNvPr>
          <p:cNvSpPr/>
          <p:nvPr/>
        </p:nvSpPr>
        <p:spPr>
          <a:xfrm>
            <a:off x="2343149" y="5116790"/>
            <a:ext cx="1659795" cy="733504"/>
          </a:xfrm>
          <a:prstGeom prst="roundRect">
            <a:avLst>
              <a:gd name="adj" fmla="val 9677"/>
            </a:avLst>
          </a:prstGeom>
          <a:solidFill>
            <a:srgbClr val="FEE4DC"/>
          </a:solidFill>
          <a:ln/>
        </p:spPr>
        <p:txBody>
          <a:bodyPr/>
          <a:lstStyle/>
          <a:p>
            <a:pPr algn="r" rtl="1"/>
            <a:r>
              <a:rPr lang="ar-AE" sz="1400" dirty="0">
                <a:latin typeface="Cairo SemiBold" panose="00000700000000000000" pitchFamily="2" charset="-78"/>
                <a:cs typeface="Cairo SemiBold" panose="00000700000000000000" pitchFamily="2" charset="-78"/>
              </a:rPr>
              <a:t>مستحق إلي </a:t>
            </a:r>
            <a:r>
              <a:rPr lang="en-US" sz="1400" dirty="0">
                <a:latin typeface="Cairo SemiBold" panose="00000700000000000000" pitchFamily="2" charset="-78"/>
                <a:cs typeface="Cairo SemiBold" panose="00000700000000000000" pitchFamily="2" charset="-78"/>
              </a:rPr>
              <a:t>PMO</a:t>
            </a:r>
            <a:endParaRPr lang="ar-AE" sz="1400" dirty="0">
              <a:latin typeface="Cairo SemiBold" panose="00000700000000000000" pitchFamily="2" charset="-78"/>
              <a:cs typeface="Cairo SemiBold" panose="00000700000000000000" pitchFamily="2" charset="-78"/>
            </a:endParaRPr>
          </a:p>
          <a:p>
            <a:pPr algn="ctr" rtl="1"/>
            <a:r>
              <a:rPr lang="en-US" sz="1600" dirty="0">
                <a:latin typeface="Cairo SemiBold" panose="00000700000000000000" pitchFamily="2" charset="-78"/>
                <a:cs typeface="Cairo SemiBold" panose="00000700000000000000" pitchFamily="2" charset="-78"/>
              </a:rPr>
              <a:t>956,371.00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65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460</Words>
  <Application>Microsoft Office PowerPoint</Application>
  <PresentationFormat>Widescreen</PresentationFormat>
  <Paragraphs>115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Cairo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أرصدة الأطراف ذات العلاقة</dc:title>
  <dc:subject>PptxGenJS Presentation</dc:subject>
  <dc:creator>Related Party Dashboard</dc:creator>
  <cp:lastModifiedBy>Hager Halloul</cp:lastModifiedBy>
  <cp:revision>7</cp:revision>
  <cp:lastPrinted>2026-07-03T06:44:40Z</cp:lastPrinted>
  <dcterms:created xsi:type="dcterms:W3CDTF">2026-07-03T04:45:36Z</dcterms:created>
  <dcterms:modified xsi:type="dcterms:W3CDTF">2026-07-03T07:16:52Z</dcterms:modified>
</cp:coreProperties>
</file>